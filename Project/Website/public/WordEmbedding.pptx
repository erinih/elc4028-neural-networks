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57" r:id="rId3"/>
    <p:sldId id="269" r:id="rId4"/>
    <p:sldId id="259" r:id="rId5"/>
    <p:sldId id="270" r:id="rId6"/>
    <p:sldId id="260" r:id="rId7"/>
    <p:sldId id="272" r:id="rId8"/>
    <p:sldId id="261" r:id="rId9"/>
    <p:sldId id="274" r:id="rId10"/>
    <p:sldId id="276" r:id="rId11"/>
    <p:sldId id="277" r:id="rId12"/>
    <p:sldId id="278" r:id="rId13"/>
    <p:sldId id="275" r:id="rId14"/>
    <p:sldId id="279" r:id="rId15"/>
    <p:sldId id="273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A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AFD5-3133-CB24-2B89-5A1A8D64B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1B5F7-0A96-1181-8E58-80B234938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84551-01F0-27E7-D187-A69BF292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38128-1B06-D291-1C36-0E2BA52B0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292C8-4EAD-BAA8-3F3D-4E6D0C09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5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E65A-6A0E-EF66-8A99-0E8143520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E538A-4E0A-58FD-8AFA-3AC97B143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8F392-82A1-5BF1-8501-BDFC39ABE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44F67-266F-7E0D-BC94-53F58791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7B6B4-D5BF-8DD6-B551-592C23FD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0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C032-4C57-7021-CD1E-D7F62787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BDD5A-DBB9-3CA9-7A8C-364E78262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FDECD-641A-88DF-8A73-F96A6E8F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D99C-A1F3-4109-8BC3-0110E86D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7EE06-1807-01F8-8EEA-07AD6264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90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3614-F3C0-A44F-43B5-3245EFD1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07222-7FA6-691C-17DB-B90EE23BE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5DE96-6736-BDB6-CFDE-7884D85C3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A0201-FB41-3BE0-E36C-C0ECD4550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51B99-2595-0432-E677-AF87AF66B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9D8BA-4360-1A09-D49D-E24628206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0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EF471-3DEF-15C5-AD74-351584589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12BD7-6063-80F8-3032-D392ABE96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D6B27-3D63-43A9-140F-2DE25733D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0F201-F47B-DB80-826C-264D48859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FAC4F-7B4D-702D-E4E3-A993ED0CA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D3FFC-42C7-F3A1-493E-8A89C890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BCDDA1-F84E-DB9C-D1A9-6BB6D953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FB1E5-8E09-4B2E-8A71-B02B1F39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6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46E0-0DC8-994E-3E62-F57A722D0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77CE8-E5D7-4374-EF05-07A3EE89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BE759-39C7-147C-4E71-924A21B9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B61EF-0E3E-2948-8559-F3E3EB22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46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302B7-376D-FCA5-87D0-6DD49A06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682E1-F31F-5570-AC24-0F255884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F3705-C5C4-8E2A-A588-ED661F5E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4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61BA-43DC-CACB-778F-AC77E6F5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EC7C1-99FF-FDCB-166B-7CC655315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68488-F8A4-5D84-FD15-F24C5A749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82B1F-4A68-A5FD-672F-55DEDB80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B1F73-DB75-E1B6-19DD-FC1111D6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E68AD-20E6-A1EA-313B-690AA164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86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AA542-9B06-A5FB-0122-7671ADC3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798732-3B08-B9B1-D2D3-9CB495D5E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3AB7D-762B-51C7-A922-5A722E4B9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09332-3C0D-49C4-D0A6-3AF2E46E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C9E3F-AD2A-5EB4-6C49-1C4008EA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6B874-D18A-68E3-C535-D62A4725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69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452A-498A-D7D1-60D1-DE392022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A6CB5-2FE4-12AA-F6D3-BC780FE97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2CD34-04E5-06E7-00F4-29DF46EFD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C6D9E-CEE2-AFBB-F0A8-F3A8B899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DA736-DB38-78AC-FE2A-41AC6701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9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392DD-69A2-7569-88CE-59C1F368A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308FD-9059-5E90-1F1C-F582292B2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4C0AF-1C9E-620D-0C09-FFB403CA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BC3E2-5657-3E45-9915-E2494AD8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11454-A60D-3401-4D60-AFEA9AB2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0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D0925-F399-5DF1-ED21-26B84C826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7C910-498D-F0C2-BB0D-A7C5ADD7B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12B29-AE41-8D8E-3B78-41999DE00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1CF99-6DBC-4F86-9930-4094EF63E4C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9723-3198-8F20-B94E-1EEDE8577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2397-F822-E44B-9992-FBB24D893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3D8F1-CAA8-4DDC-A0CE-8C06EB12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3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4" name="Google Shape;84;p13" descr="image.png"/>
          <p:cNvPicPr preferRelativeResize="0"/>
          <p:nvPr/>
        </p:nvPicPr>
        <p:blipFill rotWithShape="1">
          <a:blip r:embed="rId2">
            <a:alphaModFix/>
          </a:blip>
          <a:srcRect l="35137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  <a:noFill/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Google Shape;85;p13"/>
          <p:cNvSpPr txBox="1"/>
          <p:nvPr/>
        </p:nvSpPr>
        <p:spPr>
          <a:xfrm>
            <a:off x="728663" y="1115219"/>
            <a:ext cx="5505449" cy="23876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i="0" u="none" strike="noStrike" cap="none">
                <a:solidFill>
                  <a:schemeClr val="bg1"/>
                </a:solidFill>
                <a:latin typeface="+mj-lt"/>
                <a:ea typeface="+mj-ea"/>
                <a:cs typeface="+mj-cs"/>
                <a:sym typeface="Urbanist"/>
              </a:rPr>
              <a:t>Word Embeddings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>
                <a:solidFill>
                  <a:schemeClr val="bg1"/>
                </a:solidFill>
                <a:latin typeface="+mj-lt"/>
                <a:ea typeface="+mj-ea"/>
                <a:cs typeface="+mj-cs"/>
                <a:sym typeface="Urbanist"/>
              </a:rPr>
              <a:t>تضمين الكلمات</a:t>
            </a:r>
            <a:endParaRPr lang="en-US" sz="50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8663" y="3902075"/>
            <a:ext cx="5505449" cy="165576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cap="none">
                <a:solidFill>
                  <a:schemeClr val="bg1"/>
                </a:solidFill>
                <a:sym typeface="Urbanist"/>
              </a:rPr>
              <a:t>Bridging the Gap Between Symbols and Semantics</a:t>
            </a:r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529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6B9A-E198-3E82-CD9D-51CD2C4B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FF0CDE0-C565-8FBC-3AE2-3DF91B249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850C6B8-F074-C8BE-8260-C67874759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126141-F2D3-5167-C8C2-739351026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3D9E35F-AE0B-F805-6652-D7F60764F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606B5AC-0A71-CFC9-850C-D745DC6718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CB0C6C-8D50-25F8-D477-C7928ABF8574}"/>
              </a:ext>
            </a:extLst>
          </p:cNvPr>
          <p:cNvSpPr txBox="1"/>
          <p:nvPr/>
        </p:nvSpPr>
        <p:spPr>
          <a:xfrm>
            <a:off x="5301681" y="1416912"/>
            <a:ext cx="5744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EG" sz="2800" b="1" dirty="0"/>
              <a:t>- لماذا نحتاج </a:t>
            </a:r>
            <a:r>
              <a:rPr lang="ar-EG" sz="2800" b="1" dirty="0" err="1"/>
              <a:t>لل</a:t>
            </a:r>
            <a:r>
              <a:rPr lang="ar-EG" sz="2800" b="1" dirty="0"/>
              <a:t> “</a:t>
            </a:r>
            <a:r>
              <a:rPr lang="en-US" sz="2800" b="1" dirty="0"/>
              <a:t>word embeddings</a:t>
            </a:r>
            <a:r>
              <a:rPr lang="ar-EG" sz="2800" b="1" dirty="0"/>
              <a:t>“ ؟ </a:t>
            </a:r>
            <a:endParaRPr 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57BD4-2767-D65A-A6B3-98783C4A1FBD}"/>
              </a:ext>
            </a:extLst>
          </p:cNvPr>
          <p:cNvSpPr txBox="1"/>
          <p:nvPr/>
        </p:nvSpPr>
        <p:spPr>
          <a:xfrm>
            <a:off x="9724388" y="422196"/>
            <a:ext cx="20313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EG" sz="4400" b="1" dirty="0"/>
              <a:t>المحتويات</a:t>
            </a:r>
            <a:endParaRPr lang="en-US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39F4A-30D6-73F3-580C-AAD829CF3C02}"/>
              </a:ext>
            </a:extLst>
          </p:cNvPr>
          <p:cNvSpPr txBox="1"/>
          <p:nvPr/>
        </p:nvSpPr>
        <p:spPr>
          <a:xfrm>
            <a:off x="2992653" y="2384789"/>
            <a:ext cx="8053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EG" sz="2800" b="1" dirty="0"/>
              <a:t>- التشابه في الفضاء </a:t>
            </a:r>
            <a:r>
              <a:rPr lang="ar-EG" sz="2800" b="1" dirty="0" err="1"/>
              <a:t>المتجهي</a:t>
            </a:r>
            <a:r>
              <a:rPr lang="ar-EG" sz="2800" b="1" dirty="0"/>
              <a:t> (</a:t>
            </a:r>
            <a:r>
              <a:rPr lang="en-US" sz="2800" b="1" dirty="0"/>
              <a:t>(Similarity in vector 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1C7BE-12D9-2E27-D79A-E0E3635F916C}"/>
              </a:ext>
            </a:extLst>
          </p:cNvPr>
          <p:cNvSpPr txBox="1"/>
          <p:nvPr/>
        </p:nvSpPr>
        <p:spPr>
          <a:xfrm>
            <a:off x="3220471" y="3352666"/>
            <a:ext cx="78255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EG" sz="2800" b="1" dirty="0"/>
              <a:t>- التضمين الفئوي وجداول التضمين</a:t>
            </a:r>
            <a:br>
              <a:rPr lang="en-US" sz="2800" b="1" dirty="0"/>
            </a:br>
            <a:r>
              <a:rPr lang="ar-EG" sz="2800" b="1" dirty="0"/>
              <a:t> </a:t>
            </a:r>
            <a:r>
              <a:rPr lang="en-US" sz="2800" b="1" dirty="0"/>
              <a:t>(Categorical Embeddings &amp; Embedding tables)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255AFD-086B-E42A-0990-445F01252465}"/>
              </a:ext>
            </a:extLst>
          </p:cNvPr>
          <p:cNvSpPr txBox="1"/>
          <p:nvPr/>
        </p:nvSpPr>
        <p:spPr>
          <a:xfrm>
            <a:off x="4874384" y="4751430"/>
            <a:ext cx="6171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EG" sz="2800" b="1" dirty="0"/>
              <a:t>- النماذج المدربة مسبقاً (</a:t>
            </a:r>
            <a:r>
              <a:rPr lang="en-US" sz="2800" b="1" dirty="0"/>
              <a:t>word2vec</a:t>
            </a:r>
            <a:r>
              <a:rPr lang="ar-EG" sz="2800" b="1" dirty="0"/>
              <a:t> و </a:t>
            </a:r>
            <a:r>
              <a:rPr lang="en-US" sz="2800" b="1" dirty="0" err="1"/>
              <a:t>GloVe</a:t>
            </a:r>
            <a:r>
              <a:rPr lang="ar-EG" sz="2800" b="1" dirty="0"/>
              <a:t>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90136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5AD0-2337-26DF-1E1F-13EE59F9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C727768-3866-F240-FA17-6B12DB38DA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9021AC6-9F27-C9BC-C783-9EC68ECFC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339FA35-A335-D3A8-524B-BFFC62863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E06D645-463E-EEAA-FBF9-009C87132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63F224A-104B-5D9A-5108-3DD59EB6D4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9BE682-35C0-984E-7DF4-80273E0486F8}"/>
              </a:ext>
            </a:extLst>
          </p:cNvPr>
          <p:cNvSpPr txBox="1"/>
          <p:nvPr/>
        </p:nvSpPr>
        <p:spPr>
          <a:xfrm>
            <a:off x="1430429" y="1090287"/>
            <a:ext cx="9615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EG" sz="2800" b="1" dirty="0"/>
              <a:t>الفرق بين البيانات المهيكلة (</a:t>
            </a:r>
            <a:r>
              <a:rPr lang="en-US" sz="2800" b="1" dirty="0"/>
              <a:t>structured</a:t>
            </a:r>
            <a:r>
              <a:rPr lang="ar-EG" sz="2800" b="1" dirty="0"/>
              <a:t>) وغير المهيكلة (</a:t>
            </a:r>
            <a:r>
              <a:rPr lang="en-US" sz="2800" b="1" dirty="0"/>
              <a:t>unstructured</a:t>
            </a:r>
            <a:r>
              <a:rPr lang="ar-EG" sz="2800" b="1" dirty="0"/>
              <a:t>)</a:t>
            </a:r>
            <a:endParaRPr 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5660F-B629-25D8-D71E-005F537BED0A}"/>
              </a:ext>
            </a:extLst>
          </p:cNvPr>
          <p:cNvSpPr txBox="1"/>
          <p:nvPr/>
        </p:nvSpPr>
        <p:spPr>
          <a:xfrm>
            <a:off x="10492226" y="422196"/>
            <a:ext cx="12634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EG" sz="4400" b="1" dirty="0"/>
              <a:t>مقدمة</a:t>
            </a:r>
            <a:endParaRPr lang="en-US" sz="44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A89957-A1E6-B83C-7694-45B733A59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17" y="2050387"/>
            <a:ext cx="5674228" cy="19746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252C74-0432-39E1-E08D-8D54B4BDD852}"/>
              </a:ext>
            </a:extLst>
          </p:cNvPr>
          <p:cNvSpPr txBox="1"/>
          <p:nvPr/>
        </p:nvSpPr>
        <p:spPr>
          <a:xfrm>
            <a:off x="3489367" y="1520084"/>
            <a:ext cx="7642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b="1" dirty="0"/>
              <a:t>التحدي في معالجة اللغات الطبيعية (</a:t>
            </a:r>
            <a:r>
              <a:rPr lang="en-US" b="1" dirty="0"/>
              <a:t>NLP</a:t>
            </a:r>
            <a:r>
              <a:rPr lang="ar-EG" b="1" dirty="0"/>
              <a:t>) وكيف تتعامل الحواسيب مع الكلمات كأرقام.</a:t>
            </a:r>
            <a:endParaRPr lang="en-US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A4C064-CCB7-8475-7017-A66EA11C6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08" y="4119204"/>
            <a:ext cx="6269905" cy="20953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AB2A53-81CC-9D17-9E6B-CC1784906963}"/>
              </a:ext>
            </a:extLst>
          </p:cNvPr>
          <p:cNvCxnSpPr>
            <a:stCxn id="15" idx="3"/>
          </p:cNvCxnSpPr>
          <p:nvPr/>
        </p:nvCxnSpPr>
        <p:spPr>
          <a:xfrm flipV="1">
            <a:off x="6194845" y="3027680"/>
            <a:ext cx="1029960" cy="1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E1C442-A451-6834-843C-E73632C1F363}"/>
              </a:ext>
            </a:extLst>
          </p:cNvPr>
          <p:cNvSpPr txBox="1"/>
          <p:nvPr/>
        </p:nvSpPr>
        <p:spPr>
          <a:xfrm>
            <a:off x="7211815" y="2815845"/>
            <a:ext cx="2615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1800" b="1" dirty="0"/>
              <a:t>بيانات مهيكلة (</a:t>
            </a:r>
            <a:r>
              <a:rPr lang="en-US" sz="1800" b="1" dirty="0"/>
              <a:t>structured</a:t>
            </a:r>
            <a:r>
              <a:rPr lang="ar-EG" sz="1800" b="1" dirty="0"/>
              <a:t>) 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DBD4E9-DB7F-5208-7031-E07C041AC479}"/>
              </a:ext>
            </a:extLst>
          </p:cNvPr>
          <p:cNvCxnSpPr>
            <a:cxnSpLocks/>
          </p:cNvCxnSpPr>
          <p:nvPr/>
        </p:nvCxnSpPr>
        <p:spPr>
          <a:xfrm flipH="1">
            <a:off x="4449489" y="5063924"/>
            <a:ext cx="904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2E324B9-0C5E-0A33-962C-29882C4DAB04}"/>
              </a:ext>
            </a:extLst>
          </p:cNvPr>
          <p:cNvSpPr txBox="1"/>
          <p:nvPr/>
        </p:nvSpPr>
        <p:spPr>
          <a:xfrm>
            <a:off x="1177969" y="4822719"/>
            <a:ext cx="3171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1800" b="1" dirty="0"/>
              <a:t>بيانات</a:t>
            </a:r>
            <a:r>
              <a:rPr lang="en-US" sz="1800" b="1" dirty="0"/>
              <a:t> </a:t>
            </a:r>
            <a:r>
              <a:rPr lang="ar-EG" sz="1800" b="1" dirty="0"/>
              <a:t>غير</a:t>
            </a:r>
            <a:r>
              <a:rPr lang="en-US" sz="1800" b="1" dirty="0"/>
              <a:t> </a:t>
            </a:r>
            <a:r>
              <a:rPr lang="ar-EG" sz="1800" b="1" dirty="0"/>
              <a:t>مهيكلة (</a:t>
            </a:r>
            <a:r>
              <a:rPr lang="en-US" sz="1800" b="1" dirty="0"/>
              <a:t>unstructured</a:t>
            </a:r>
            <a:r>
              <a:rPr lang="ar-EG" sz="1800" b="1" dirty="0"/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99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326A-2F64-5998-5A3E-977A4E8C8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85EFDF0-39C0-F52F-A4E3-AF1161A479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7575238-B3D3-2C5B-C764-D872F61FF7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C7C60C3-A51F-DE77-02B0-084C4AD58F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2D9F4CC-6BD9-D858-D54F-F27359663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E692012-7AA9-404D-163C-7D2E14E89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DA63CD-DC44-7F57-000E-6543FE176FC2}"/>
              </a:ext>
            </a:extLst>
          </p:cNvPr>
          <p:cNvSpPr txBox="1"/>
          <p:nvPr/>
        </p:nvSpPr>
        <p:spPr>
          <a:xfrm>
            <a:off x="2953282" y="2075816"/>
            <a:ext cx="88412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EG" sz="2400" b="1" dirty="0"/>
              <a:t>الرؤية الحاسوبية (</a:t>
            </a:r>
            <a:r>
              <a:rPr lang="en-US" sz="2400" b="1" dirty="0"/>
              <a:t>CV</a:t>
            </a:r>
            <a:r>
              <a:rPr lang="ar-EG" sz="2400" b="1" dirty="0"/>
              <a:t>)</a:t>
            </a:r>
            <a:br>
              <a:rPr lang="ar-EG" sz="2400" b="1" dirty="0"/>
            </a:br>
            <a:r>
              <a:rPr lang="ar-EG" sz="1600" b="1" dirty="0"/>
              <a:t> </a:t>
            </a:r>
            <a:endParaRPr lang="ar-EG" sz="2000" b="1" dirty="0"/>
          </a:p>
          <a:p>
            <a:pPr algn="r" rtl="1"/>
            <a:r>
              <a:rPr lang="ar-EG" sz="2000" dirty="0"/>
              <a:t>البيانات رقمية ومستمرة بطبيعتها.</a:t>
            </a:r>
            <a:br>
              <a:rPr lang="ar-EG" sz="2000" dirty="0"/>
            </a:br>
            <a:r>
              <a:rPr lang="ar-EG" sz="2000" dirty="0"/>
              <a:t>• القيم المتقاربة تعني شدات إضاءة متقاربة.</a:t>
            </a:r>
            <a:br>
              <a:rPr lang="ar-EG" sz="2000" dirty="0"/>
            </a:br>
            <a:r>
              <a:rPr lang="ar-EG" sz="2000" dirty="0"/>
              <a:t>• لا تحتاج إلى خطوات إضافية لتمثيل البيانات.</a:t>
            </a:r>
            <a:br>
              <a:rPr lang="ar-EG" sz="2000" dirty="0"/>
            </a:br>
            <a:r>
              <a:rPr lang="ar-EG" sz="2000" dirty="0"/>
              <a:t>• التحدي الأساسي هو فهم </a:t>
            </a:r>
            <a:r>
              <a:rPr lang="ar-EG" sz="2000" b="1" dirty="0"/>
              <a:t>العلاقات والخصائص المكانية</a:t>
            </a:r>
            <a:r>
              <a:rPr lang="en-US" sz="2000" b="1" dirty="0"/>
              <a:t> 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5C8AB-D520-0B5A-EA19-933969CEF1D9}"/>
              </a:ext>
            </a:extLst>
          </p:cNvPr>
          <p:cNvSpPr txBox="1"/>
          <p:nvPr/>
        </p:nvSpPr>
        <p:spPr>
          <a:xfrm>
            <a:off x="1040696" y="2185269"/>
            <a:ext cx="46692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EG" sz="2400" b="1" dirty="0"/>
              <a:t>معالجة اللغة الطبيعية (</a:t>
            </a:r>
            <a:r>
              <a:rPr lang="en-US" sz="2400" b="1" dirty="0"/>
              <a:t>NLP</a:t>
            </a:r>
            <a:r>
              <a:rPr lang="ar-EG" sz="2400" b="1" dirty="0"/>
              <a:t>) </a:t>
            </a:r>
          </a:p>
          <a:p>
            <a:pPr algn="r" rtl="1">
              <a:buNone/>
            </a:pPr>
            <a:r>
              <a:rPr lang="ar-EG" dirty="0"/>
              <a:t>- كيف يمكن ترميز/</a:t>
            </a:r>
            <a:r>
              <a:rPr lang="ar-EG" dirty="0" err="1"/>
              <a:t>رقمنة</a:t>
            </a:r>
            <a:r>
              <a:rPr lang="ar-EG" dirty="0"/>
              <a:t> الرموز لكي يفهمها الحاسوب؟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/>
              <a:t>يجب أن يتضمن الترميز مفهوم التشابه بين العناصر.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/>
              <a:t>الكلمات المتشابهة يجب أن تمتلك تمثيلات متشابهة.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/>
              <a:t>ما يتبقى هو: كيف نفهم العلاقات والخصائص التسلسلية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226E0-89E5-8636-18C4-DB4713354C40}"/>
              </a:ext>
            </a:extLst>
          </p:cNvPr>
          <p:cNvSpPr txBox="1"/>
          <p:nvPr/>
        </p:nvSpPr>
        <p:spPr>
          <a:xfrm>
            <a:off x="1735914" y="506156"/>
            <a:ext cx="98973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EG" sz="2800" b="1" dirty="0"/>
              <a:t>الرؤية الحاسوبية (</a:t>
            </a:r>
            <a:r>
              <a:rPr lang="en-US" sz="2800" b="1" dirty="0"/>
              <a:t>CV</a:t>
            </a:r>
            <a:r>
              <a:rPr lang="ar-EG" sz="2800" b="1" dirty="0"/>
              <a:t>) مستمرة — بينما معالجة اللغة الطبيعية (</a:t>
            </a:r>
            <a:r>
              <a:rPr lang="en-US" sz="2800" b="1" dirty="0"/>
              <a:t>NLP</a:t>
            </a:r>
            <a:r>
              <a:rPr lang="ar-EG" sz="2800" b="1" dirty="0"/>
              <a:t>) فئوية</a:t>
            </a:r>
            <a:br>
              <a:rPr lang="en-US" sz="2800" b="1" dirty="0"/>
            </a:br>
            <a:endParaRPr lang="ar-EG" sz="2800" b="1" dirty="0"/>
          </a:p>
          <a:p>
            <a:pPr algn="r" rtl="1">
              <a:buNone/>
            </a:pPr>
            <a:r>
              <a:rPr lang="en-US" b="1" dirty="0"/>
              <a:t>	</a:t>
            </a:r>
            <a:r>
              <a:rPr lang="ar-EG" sz="2000" b="1" dirty="0"/>
              <a:t>في الرؤية الحاسوبية:</a:t>
            </a:r>
            <a:r>
              <a:rPr lang="ar-EG" sz="2000" dirty="0"/>
              <a:t> الأبجدية تتكون من قيم البكسلات (0–255)   </a:t>
            </a:r>
            <a:br>
              <a:rPr lang="ar-EG" sz="2000" dirty="0"/>
            </a:br>
            <a:r>
              <a:rPr lang="en-US" sz="2000" dirty="0"/>
              <a:t>	</a:t>
            </a:r>
            <a:r>
              <a:rPr lang="ar-EG" sz="2000" b="1" dirty="0"/>
              <a:t>في معالجة اللغة الطبيعية:</a:t>
            </a:r>
            <a:r>
              <a:rPr lang="ar-EG" sz="2000" dirty="0"/>
              <a:t> الأبجدية أو المفردات تتكون من رموز أو مؤشرات داخل القاموس</a:t>
            </a:r>
            <a:endParaRPr lang="en-US" dirty="0"/>
          </a:p>
        </p:txBody>
      </p:sp>
      <p:pic>
        <p:nvPicPr>
          <p:cNvPr id="1026" name="Picture 2" descr="The Illusion of AI Intelligence: Peering Behind the Curtain">
            <a:extLst>
              <a:ext uri="{FF2B5EF4-FFF2-40B4-BE49-F238E27FC236}">
                <a16:creationId xmlns:a16="http://schemas.microsoft.com/office/drawing/2014/main" id="{2B0341F1-170C-2616-2C72-181EDA5BD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678" y="4041795"/>
            <a:ext cx="4227447" cy="241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CB7D56-F84A-2DDA-90AA-AB0D437C0E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996" y="3864382"/>
            <a:ext cx="4421046" cy="23274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A07126-CB23-A1E2-0C20-CF4E2F732411}"/>
              </a:ext>
            </a:extLst>
          </p:cNvPr>
          <p:cNvSpPr txBox="1"/>
          <p:nvPr/>
        </p:nvSpPr>
        <p:spPr>
          <a:xfrm>
            <a:off x="405595" y="6272813"/>
            <a:ext cx="5939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b="1" dirty="0"/>
              <a:t>البكسلات تعتبر غير مهيكلة لكنها مهيكلة ضمنيا (و تعبر عن شدة الضوء 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986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9DD1-7C1B-B9CD-1561-3FEA385AE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21B8A7E-6F47-C427-89D3-DB2531B491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737294E-F949-46A4-5C25-B20A8FD05C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3672B36-7487-3CCB-5AEF-6669E888A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A1B179A-1323-6DDF-CD83-21EBDC7450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753FBDA-A2AF-6707-A5DA-F67D7427FC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89AE50-4F9C-1556-CD26-DC23C44CC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523832"/>
            <a:ext cx="10532236" cy="47262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570583-E57B-3198-58B7-18FB48E0AF75}"/>
              </a:ext>
            </a:extLst>
          </p:cNvPr>
          <p:cNvSpPr txBox="1"/>
          <p:nvPr/>
        </p:nvSpPr>
        <p:spPr>
          <a:xfrm>
            <a:off x="1735914" y="506156"/>
            <a:ext cx="98973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EG" sz="2800" b="1" dirty="0"/>
              <a:t>يمكننا قياس مدى التشابه بين بكسلين في الفضاء </a:t>
            </a:r>
            <a:r>
              <a:rPr lang="ar-EG" sz="2800" b="1" dirty="0" err="1"/>
              <a:t>المتجهي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9313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D6E02-A66F-EA5C-D44A-7E3295A2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24C17EA-74C7-17BD-B566-D48335125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EF8E8CE-BCEF-4097-86A1-58AF0904D5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EF18C72-6A5D-E264-C859-6877F542D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04BDF26-3DAA-7172-1090-FAB6AAF0C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EC4019F-9F87-6746-5BE5-261441A4F5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19A9E-B26D-8415-E6C7-F336C1EDA185}"/>
              </a:ext>
            </a:extLst>
          </p:cNvPr>
          <p:cNvSpPr txBox="1"/>
          <p:nvPr/>
        </p:nvSpPr>
        <p:spPr>
          <a:xfrm>
            <a:off x="5619980" y="793768"/>
            <a:ext cx="611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600" b="1" dirty="0"/>
              <a:t>مشكلة تمثيل الكلمات بالمؤشرات</a:t>
            </a:r>
            <a:endParaRPr lang="en-US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1ECF5-3605-7661-0C5A-FD6130EC7884}"/>
              </a:ext>
            </a:extLst>
          </p:cNvPr>
          <p:cNvSpPr txBox="1"/>
          <p:nvPr/>
        </p:nvSpPr>
        <p:spPr>
          <a:xfrm>
            <a:off x="4841379" y="1826941"/>
            <a:ext cx="6111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2400" dirty="0"/>
              <a:t>- رقم الكلمة داخل القاموس لا يحمل معنى</a:t>
            </a:r>
          </a:p>
          <a:p>
            <a:pPr algn="r" rtl="1"/>
            <a:r>
              <a:rPr lang="ar-EG" sz="2400" dirty="0"/>
              <a:t>- نحتاج إلى خصائص تصف الكلمات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4AB284-E67D-C692-47D4-72A22143B5EF}"/>
              </a:ext>
            </a:extLst>
          </p:cNvPr>
          <p:cNvSpPr txBox="1"/>
          <p:nvPr/>
        </p:nvSpPr>
        <p:spPr>
          <a:xfrm>
            <a:off x="5443199" y="3598861"/>
            <a:ext cx="611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600" b="1" dirty="0"/>
              <a:t>ما الذي نحتاجه؟</a:t>
            </a:r>
            <a:endParaRPr lang="en-US" sz="3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F28A97-8491-4435-FB3B-0F29BE014523}"/>
              </a:ext>
            </a:extLst>
          </p:cNvPr>
          <p:cNvSpPr txBox="1"/>
          <p:nvPr/>
        </p:nvSpPr>
        <p:spPr>
          <a:xfrm>
            <a:off x="4841379" y="4457538"/>
            <a:ext cx="6111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2400" dirty="0"/>
              <a:t>- تحويل الفضاء الفئوي إلى فضاء متجهي</a:t>
            </a:r>
          </a:p>
          <a:p>
            <a:pPr algn="r" rtl="1"/>
            <a:r>
              <a:rPr lang="ar-EG" sz="2400" dirty="0"/>
              <a:t>- الكلمات المتشابهة يجب أن تكون متقاربة</a:t>
            </a:r>
          </a:p>
          <a:p>
            <a:pPr algn="r" rtl="1"/>
            <a:r>
              <a:rPr lang="ar-EG" sz="2400" dirty="0"/>
              <a:t>- هذا التحويل يسمى </a:t>
            </a:r>
            <a:r>
              <a:rPr lang="en-US" sz="2400" dirty="0"/>
              <a:t>Embedding</a:t>
            </a:r>
          </a:p>
        </p:txBody>
      </p:sp>
    </p:spTree>
    <p:extLst>
      <p:ext uri="{BB962C8B-B14F-4D97-AF65-F5344CB8AC3E}">
        <p14:creationId xmlns:p14="http://schemas.microsoft.com/office/powerpoint/2010/main" val="208700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9C6A2-319E-75BA-C953-3085B7804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3E4EDFE-6F68-4AF6-B9C1-B71963D70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99E787-5555-E11D-09B4-6D3216073C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3589CE0-3074-B3E1-A5BA-6BA0FC76A7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D9C0E18-5CCC-F414-2EAA-384B29C06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A9D7323-89A9-BCBA-2D61-A61802A4C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0D8AC3-797B-F7B2-A3FB-279930682C48}"/>
              </a:ext>
            </a:extLst>
          </p:cNvPr>
          <p:cNvSpPr txBox="1"/>
          <p:nvPr/>
        </p:nvSpPr>
        <p:spPr>
          <a:xfrm>
            <a:off x="5644473" y="409694"/>
            <a:ext cx="611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600" b="1" dirty="0"/>
              <a:t>ما هي </a:t>
            </a:r>
            <a:r>
              <a:rPr lang="en-US" sz="3600" b="1" dirty="0"/>
              <a:t>Embeddings؟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3F849-9DC3-7993-147D-EE5E6C6F7241}"/>
              </a:ext>
            </a:extLst>
          </p:cNvPr>
          <p:cNvSpPr txBox="1"/>
          <p:nvPr/>
        </p:nvSpPr>
        <p:spPr>
          <a:xfrm>
            <a:off x="5008112" y="1239748"/>
            <a:ext cx="6111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2400" dirty="0"/>
              <a:t>- تمثل الكلمات باستخدام متجهات كثيفة </a:t>
            </a:r>
            <a:r>
              <a:rPr lang="en-US" sz="2400" dirty="0"/>
              <a:t>Dense vectors</a:t>
            </a:r>
          </a:p>
          <a:p>
            <a:pPr algn="r" rtl="1"/>
            <a:r>
              <a:rPr lang="ar-EG" sz="2400" dirty="0"/>
              <a:t>- كل بعد يمثل خاصية كامنة </a:t>
            </a:r>
            <a:r>
              <a:rPr lang="en-US" sz="2400" dirty="0"/>
              <a:t>Latent Feature</a:t>
            </a:r>
          </a:p>
          <a:p>
            <a:pPr algn="r" rtl="1"/>
            <a:r>
              <a:rPr lang="ar-EG" sz="2400" dirty="0"/>
              <a:t>- يتم تعلمها تلقائياً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955542-195A-43A8-5633-43773F34B0B7}"/>
              </a:ext>
            </a:extLst>
          </p:cNvPr>
          <p:cNvSpPr txBox="1"/>
          <p:nvPr/>
        </p:nvSpPr>
        <p:spPr>
          <a:xfrm>
            <a:off x="2455490" y="3025278"/>
            <a:ext cx="2934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600" dirty="0"/>
              <a:t>بعد التدريب</a:t>
            </a:r>
            <a:endParaRPr lang="en-US" sz="3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DF8BE7-9EDE-5949-1E4B-DC75385DF286}"/>
              </a:ext>
            </a:extLst>
          </p:cNvPr>
          <p:cNvSpPr txBox="1"/>
          <p:nvPr/>
        </p:nvSpPr>
        <p:spPr>
          <a:xfrm>
            <a:off x="4762500" y="3702400"/>
            <a:ext cx="6111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2400" dirty="0"/>
              <a:t>- نضع طبقة </a:t>
            </a:r>
            <a:r>
              <a:rPr lang="en-US" sz="2400" dirty="0"/>
              <a:t>Embedding </a:t>
            </a:r>
            <a:r>
              <a:rPr lang="ar-EG" sz="2400" dirty="0"/>
              <a:t>داخل النموذج</a:t>
            </a:r>
          </a:p>
          <a:p>
            <a:pPr algn="r" rtl="1"/>
            <a:r>
              <a:rPr lang="ar-EG" sz="2400" dirty="0"/>
              <a:t>- نحسب الخسارة </a:t>
            </a:r>
            <a:r>
              <a:rPr lang="en-US" sz="2400" dirty="0"/>
              <a:t>Loss</a:t>
            </a:r>
          </a:p>
          <a:p>
            <a:pPr algn="r" rtl="1"/>
            <a:r>
              <a:rPr lang="ar-EG" sz="2400" dirty="0"/>
              <a:t>- يقوم المحسن </a:t>
            </a:r>
            <a:r>
              <a:rPr lang="en-US" sz="2400" dirty="0"/>
              <a:t>Optimizer </a:t>
            </a:r>
            <a:r>
              <a:rPr lang="ar-EG" sz="2400" dirty="0"/>
              <a:t>بتحديث الأوزان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CB9F2-BBA6-B1F5-446A-E4E6C24D70B3}"/>
              </a:ext>
            </a:extLst>
          </p:cNvPr>
          <p:cNvSpPr txBox="1"/>
          <p:nvPr/>
        </p:nvSpPr>
        <p:spPr>
          <a:xfrm>
            <a:off x="6943810" y="3036293"/>
            <a:ext cx="4804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600" dirty="0"/>
              <a:t>كيف نفعل هذا </a:t>
            </a:r>
            <a:r>
              <a:rPr lang="en-US" sz="3600" dirty="0"/>
              <a:t>؟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EFE7CC-75A1-398F-5B08-881ED9872093}"/>
              </a:ext>
            </a:extLst>
          </p:cNvPr>
          <p:cNvSpPr txBox="1"/>
          <p:nvPr/>
        </p:nvSpPr>
        <p:spPr>
          <a:xfrm>
            <a:off x="-734719" y="3741554"/>
            <a:ext cx="6111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2400" dirty="0"/>
              <a:t>• الكلمات تصبح متجهات</a:t>
            </a:r>
          </a:p>
          <a:p>
            <a:pPr algn="r" rtl="1"/>
            <a:r>
              <a:rPr lang="ar-EG" sz="2400" dirty="0"/>
              <a:t>• الكلمات ذات المعنى المتقارب تصبح قريبة في</a:t>
            </a:r>
          </a:p>
          <a:p>
            <a:pPr algn="r" rtl="1"/>
            <a:r>
              <a:rPr lang="ar-EG" sz="2400" dirty="0"/>
              <a:t> الفضاء </a:t>
            </a:r>
            <a:r>
              <a:rPr lang="ar-EG" sz="2400" dirty="0" err="1"/>
              <a:t>المتجهي</a:t>
            </a:r>
            <a:endParaRPr lang="ar-EG" sz="2400" dirty="0"/>
          </a:p>
          <a:p>
            <a:pPr algn="r" rtl="1"/>
            <a:r>
              <a:rPr lang="ar-EG" sz="2400" dirty="0"/>
              <a:t>• يمكن قياس التشابه بينها</a:t>
            </a:r>
          </a:p>
        </p:txBody>
      </p:sp>
    </p:spTree>
    <p:extLst>
      <p:ext uri="{BB962C8B-B14F-4D97-AF65-F5344CB8AC3E}">
        <p14:creationId xmlns:p14="http://schemas.microsoft.com/office/powerpoint/2010/main" val="417812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E03B-6850-6D76-F3E4-61AFD78D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333A521-2E2C-1170-E85E-C725EF1E97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FE39F20-9B67-4E1B-BFED-84D65A8710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12E9D23-04FC-AA43-F878-C268294F3F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704F20C-9FCE-05FB-EDDF-A78A812A0B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44DBE37-55CE-0203-A1CC-216419007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E9BA49-C58E-1E92-BCE5-A8C71F9FE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91" y="2864940"/>
            <a:ext cx="6328974" cy="37530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ED882E-4F3D-DC7F-DA6D-48284C73C7C6}"/>
              </a:ext>
            </a:extLst>
          </p:cNvPr>
          <p:cNvSpPr txBox="1"/>
          <p:nvPr/>
        </p:nvSpPr>
        <p:spPr>
          <a:xfrm>
            <a:off x="4846320" y="517238"/>
            <a:ext cx="68097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2800" b="1" dirty="0"/>
              <a:t>مشكلة تمثيل الكلمات باستخدام </a:t>
            </a:r>
            <a:r>
              <a:rPr lang="en-US" sz="2800" b="1" dirty="0"/>
              <a:t>One-Hot Encoding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8CF4925-0DC0-8669-9E86-FAA49DA30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981" y="1197824"/>
            <a:ext cx="56044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كل كلمة يتم تمثيلها بمتجه يحتوي على 1 واحد والباقي أصفار</a:t>
            </a:r>
            <a:endParaRPr lang="ar-EG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التمثيل عالي الأبعاد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Sparse </a:t>
            </a: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الكلمات المتشابهة لا تمتلك أي علاقة رياضية مباشرة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lang="ar-EG" altLang="en-US" sz="2000" b="1" dirty="0">
              <a:latin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يؤدي إلى زيادة عدد الأوزان واحتمالية الـ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Overfitting. </a:t>
            </a: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ar-EG" altLang="en-US" sz="2000" b="1" dirty="0">
              <a:latin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84C058-0B7F-9C95-849D-0B58B0911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75" y="1946329"/>
            <a:ext cx="4515480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56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06A1F-87DD-353B-4A16-90D9AEAE5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CFA67A9-90E2-9759-98E7-781887AD9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D17F8C3-8B8B-B576-B482-EC2FACAFB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5018CDD-F948-9D07-86F9-E4CB02BED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57F51CF-6B6D-B528-8B9D-FD6C5B87B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85C9BBD-DEED-0EE0-E4A4-132D7E8B06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B42163-6584-2C5F-E85D-6A326EC3F94C}"/>
              </a:ext>
            </a:extLst>
          </p:cNvPr>
          <p:cNvSpPr txBox="1"/>
          <p:nvPr/>
        </p:nvSpPr>
        <p:spPr>
          <a:xfrm>
            <a:off x="4846320" y="517238"/>
            <a:ext cx="6809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200" b="1" dirty="0"/>
              <a:t>كيف نحدد خصائص الكلمات؟</a:t>
            </a:r>
            <a:endParaRPr lang="en-US" sz="32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D9DF90C-C354-E92B-4CAE-5BA2169EE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3120" y="1257927"/>
            <a:ext cx="5344089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/>
            <a:r>
              <a:rPr lang="ar-EG" sz="2400" b="1" dirty="0"/>
              <a:t>في </a:t>
            </a:r>
            <a:r>
              <a:rPr lang="en-US" sz="2400" b="1" dirty="0"/>
              <a:t>Machine Learning</a:t>
            </a:r>
            <a:endParaRPr lang="ar-EG" sz="2400" b="1" dirty="0"/>
          </a:p>
          <a:p>
            <a:pPr algn="r" rtl="1"/>
            <a:r>
              <a:rPr lang="ar-EG" sz="2000" dirty="0"/>
              <a:t>يتم تصميم الخصائص يدويًا. أمثلة: 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2000" dirty="0"/>
              <a:t>WordNet 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2000" dirty="0"/>
              <a:t>POS Tags 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2000" dirty="0"/>
              <a:t>Co-occurrence </a:t>
            </a:r>
            <a:endParaRPr lang="ar-EG" sz="2000" dirty="0"/>
          </a:p>
          <a:p>
            <a:pPr lvl="1" algn="r" rtl="1"/>
            <a:endParaRPr lang="en-US" sz="2000" dirty="0"/>
          </a:p>
          <a:p>
            <a:pPr algn="r" rtl="1"/>
            <a:r>
              <a:rPr lang="ar-EG" sz="2000" b="1" dirty="0"/>
              <a:t>في </a:t>
            </a:r>
            <a:r>
              <a:rPr lang="en-US" sz="2000" b="1" dirty="0"/>
              <a:t>Deep Learning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sz="2000" dirty="0"/>
              <a:t> الشبكة تتعلم الخصائص تلقائيًا. 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sz="2000" dirty="0"/>
              <a:t> نحدد فقط حجم الـ </a:t>
            </a:r>
            <a:r>
              <a:rPr lang="en-US" sz="2000" dirty="0"/>
              <a:t>Embedding Vector.</a:t>
            </a:r>
          </a:p>
        </p:txBody>
      </p:sp>
    </p:spTree>
    <p:extLst>
      <p:ext uri="{BB962C8B-B14F-4D97-AF65-F5344CB8AC3E}">
        <p14:creationId xmlns:p14="http://schemas.microsoft.com/office/powerpoint/2010/main" val="3237228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50F4-3F1F-CA25-AE6A-049716B2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FA15D72-6E4E-F28C-0D45-D773470C7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D26E404-9E55-F510-FEA0-D8F874E64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BD11BCB-442A-BAA9-48B1-E19F3BBEF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BB349F1-903D-E479-D1D1-9B684809ED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DCB9CFE-6B06-CD1D-8A99-8D875D6E49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FB98B5-FC7F-C2C1-1136-B7AAD3AAE521}"/>
              </a:ext>
            </a:extLst>
          </p:cNvPr>
          <p:cNvSpPr txBox="1"/>
          <p:nvPr/>
        </p:nvSpPr>
        <p:spPr>
          <a:xfrm>
            <a:off x="4846320" y="517238"/>
            <a:ext cx="6809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200" dirty="0"/>
              <a:t>تعلم قيم الـ </a:t>
            </a:r>
            <a:r>
              <a:rPr lang="en-US" sz="3200" dirty="0"/>
              <a:t>Embeddings</a:t>
            </a:r>
            <a:endParaRPr lang="en-US" sz="32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50B9E86-BA2D-826A-CC3E-130EB8CDF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880" y="1032484"/>
            <a:ext cx="5344089" cy="2251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يتم وضع طبقة </a:t>
            </a:r>
            <a:r>
              <a:rPr lang="en-US" sz="2400" b="1" dirty="0"/>
              <a:t>Embedding </a:t>
            </a:r>
            <a:r>
              <a:rPr lang="ar-EG" sz="2400" b="1" dirty="0"/>
              <a:t> داخل النموذج.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يتم حساب الخطأ (</a:t>
            </a:r>
            <a:r>
              <a:rPr lang="en-US" sz="2400" b="1" dirty="0"/>
              <a:t>loss</a:t>
            </a:r>
            <a:r>
              <a:rPr lang="ar-EG" sz="2400" b="1" dirty="0"/>
              <a:t>)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يستخدم </a:t>
            </a:r>
            <a:r>
              <a:rPr lang="en-US" sz="2400" b="1" dirty="0"/>
              <a:t>Optimizer </a:t>
            </a:r>
            <a:r>
              <a:rPr lang="ar-EG" sz="2400" b="1" dirty="0"/>
              <a:t>لتحديث الأوزان.</a:t>
            </a:r>
            <a:endParaRPr lang="en-US" sz="2400" b="1" dirty="0"/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يتم التعلم باستخدام </a:t>
            </a:r>
            <a:r>
              <a:rPr lang="en-US" sz="2400" b="1" dirty="0"/>
              <a:t>Backpropagation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B65A0C-3772-20D6-BAF2-86CA9229F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42" y="2135508"/>
            <a:ext cx="5092793" cy="410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38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7FEF-000A-CC85-EE6B-EEC7B51F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A088CDE-F903-3927-FA89-E9A417BDA3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2314346-E75D-848A-1A9C-4F59D7FF3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F1B9FB7-C172-3293-37BE-40E0BAE000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2D81E96-F0D6-57CC-772A-ADAA29344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E515F30-4099-2DDD-2646-5146913097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B812A4-BE13-665D-268D-6B4B2C309091}"/>
              </a:ext>
            </a:extLst>
          </p:cNvPr>
          <p:cNvSpPr txBox="1"/>
          <p:nvPr/>
        </p:nvSpPr>
        <p:spPr>
          <a:xfrm>
            <a:off x="4846320" y="517238"/>
            <a:ext cx="6809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200" dirty="0"/>
              <a:t>أهمية التشابه بين المتجهات</a:t>
            </a:r>
            <a:endParaRPr lang="en-US" sz="32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3A3F90C-F50F-A73B-0BAC-70BA5D7BB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776" y="1143893"/>
            <a:ext cx="6390569" cy="2809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الشبكات العصبية تعتمد على </a:t>
            </a:r>
            <a:r>
              <a:rPr lang="en-US" sz="2400" b="1" dirty="0"/>
              <a:t>Dot Product</a:t>
            </a:r>
            <a:endParaRPr lang="ar-EG" sz="2400" b="1" dirty="0"/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التشابه يقاس باستخدام:</a:t>
            </a:r>
          </a:p>
          <a:p>
            <a:pPr marL="800100" lvl="1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Dot Product</a:t>
            </a:r>
            <a:endParaRPr lang="ar-EG" sz="2400" b="1" dirty="0"/>
          </a:p>
          <a:p>
            <a:pPr marL="800100" lvl="1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Cosine Similarity</a:t>
            </a:r>
            <a:endParaRPr lang="ar-EG" sz="2400" b="1" dirty="0"/>
          </a:p>
          <a:p>
            <a:pPr marL="800100" lvl="1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Euclidean Distance</a:t>
            </a:r>
            <a:r>
              <a:rPr lang="ar-EG" sz="2400" b="1" dirty="0"/>
              <a:t>	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26ACA-A891-AA89-667E-817A8AAFEF45}"/>
              </a:ext>
            </a:extLst>
          </p:cNvPr>
          <p:cNvSpPr txBox="1"/>
          <p:nvPr/>
        </p:nvSpPr>
        <p:spPr>
          <a:xfrm>
            <a:off x="5694701" y="6156096"/>
            <a:ext cx="611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b="1" dirty="0"/>
              <a:t>المتجهات المتشابهة تنتج قيمًا أعلى عند المقارنة.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E4D6A3-5E3B-F0BC-D45B-82B244679D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1875"/>
          <a:stretch>
            <a:fillRect/>
          </a:stretch>
        </p:blipFill>
        <p:spPr>
          <a:xfrm>
            <a:off x="622251" y="3068065"/>
            <a:ext cx="5250229" cy="33297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2B8BA6-F015-C763-24EA-A8AD343F57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742" b="27794"/>
          <a:stretch>
            <a:fillRect/>
          </a:stretch>
        </p:blipFill>
        <p:spPr>
          <a:xfrm>
            <a:off x="681301" y="785279"/>
            <a:ext cx="3025541" cy="240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0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A1BFB-2F9A-72B2-1673-34A7A0C5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D6CCBAC-8C82-855F-F52B-1A6B0A3F4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11B6957-D265-377F-9612-EB257124D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0DA1C7D-6B41-2E82-09DD-42645958F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D2BD967-75CB-8EA4-E842-2EDE58BDE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B1714E2-A449-564B-D7A8-E86D7AF095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29EF97-A27B-E745-25C3-8BE1E34D677D}"/>
              </a:ext>
            </a:extLst>
          </p:cNvPr>
          <p:cNvSpPr txBox="1"/>
          <p:nvPr/>
        </p:nvSpPr>
        <p:spPr>
          <a:xfrm>
            <a:off x="4846320" y="517238"/>
            <a:ext cx="6809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200" b="1" dirty="0"/>
              <a:t>الفرق بين البيانات الرقمية والفئوية</a:t>
            </a:r>
            <a:endParaRPr lang="en-US" sz="32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1C19233-AFEE-7BC5-D6BB-65AD9D5EE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5905" y="1911527"/>
            <a:ext cx="6390569" cy="114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EG" sz="2400" b="1" dirty="0"/>
              <a:t>القيم المتقاربة تحمل معنى متقارب.</a:t>
            </a:r>
          </a:p>
          <a:p>
            <a:pPr algn="r" rtl="1">
              <a:lnSpc>
                <a:spcPct val="150000"/>
              </a:lnSpc>
            </a:pPr>
            <a:r>
              <a:rPr lang="ar-EG" sz="2400" b="1" dirty="0"/>
              <a:t>يمكن استخدامها مباشرة.</a:t>
            </a:r>
            <a:endParaRPr lang="en-US" sz="200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14766D4-FEE9-CF3C-CCA6-3C2AE6290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5905" y="3498100"/>
            <a:ext cx="6390569" cy="1701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EG" sz="2400" b="1" dirty="0"/>
              <a:t>القيم مجرد رموز.</a:t>
            </a:r>
          </a:p>
          <a:p>
            <a:pPr algn="r" rtl="1">
              <a:lnSpc>
                <a:spcPct val="150000"/>
              </a:lnSpc>
            </a:pPr>
            <a:r>
              <a:rPr lang="ar-EG" sz="2400" b="1" dirty="0"/>
              <a:t>لا يوجد معنى رياضي مباشر بينها.</a:t>
            </a:r>
          </a:p>
          <a:p>
            <a:pPr algn="r" rtl="1">
              <a:lnSpc>
                <a:spcPct val="150000"/>
              </a:lnSpc>
            </a:pPr>
            <a:r>
              <a:rPr lang="ar-EG" sz="2400" b="1" dirty="0"/>
              <a:t>لذلك نحتاج </a:t>
            </a:r>
            <a:r>
              <a:rPr lang="en-US" sz="2400" b="1" dirty="0"/>
              <a:t>Embeddings</a:t>
            </a:r>
            <a:endParaRPr lang="en-US" sz="2000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F43624C-45EB-0C7D-B846-3785EEC43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180987"/>
            <a:ext cx="33159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Categorical Features: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16203CE-CB33-F0A8-A15B-2A0ABE435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460757"/>
            <a:ext cx="30635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Numerical Features:</a:t>
            </a:r>
          </a:p>
        </p:txBody>
      </p:sp>
    </p:spTree>
    <p:extLst>
      <p:ext uri="{BB962C8B-B14F-4D97-AF65-F5344CB8AC3E}">
        <p14:creationId xmlns:p14="http://schemas.microsoft.com/office/powerpoint/2010/main" val="4070078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41521-E15B-18B3-FD0D-1B773141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8C969B-68BC-5C06-70B7-9B7CEEC40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4B41DE8-9762-8D9E-9AE9-DE50521CA8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A9C78C9-79E8-52CB-BCC8-EC5711EC5F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0D0631A-CD6B-F542-2D33-169D497269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145EC6E-7F9B-3954-9D50-5298B2DCD4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02B099-AAA8-35A0-35FC-6A8787159258}"/>
              </a:ext>
            </a:extLst>
          </p:cNvPr>
          <p:cNvSpPr txBox="1"/>
          <p:nvPr/>
        </p:nvSpPr>
        <p:spPr>
          <a:xfrm>
            <a:off x="4846320" y="517238"/>
            <a:ext cx="6809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200" dirty="0"/>
              <a:t>مصفوفة التضمين </a:t>
            </a:r>
            <a:r>
              <a:rPr lang="en-US" sz="3200" dirty="0"/>
              <a:t>(Embedding Matrix)</a:t>
            </a:r>
            <a:endParaRPr lang="en-US" sz="32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E37C733-200E-4ACE-DB1A-3DB011C88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880" y="1032484"/>
            <a:ext cx="5344089" cy="2251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كل صف يمثل كلمة.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كل عمود يمثل خاصية </a:t>
            </a:r>
            <a:r>
              <a:rPr lang="en-US" sz="2400" b="1" dirty="0"/>
              <a:t>Feature</a:t>
            </a:r>
            <a:endParaRPr lang="ar-EG" sz="2400" b="1" dirty="0"/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عند إدخال كلمة يتم اختيار الصف المقابل لها.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هذا الصف هو التمثيل </a:t>
            </a:r>
            <a:r>
              <a:rPr lang="ar-EG" sz="2400" b="1" dirty="0" err="1"/>
              <a:t>المتجهي</a:t>
            </a:r>
            <a:r>
              <a:rPr lang="ar-EG" sz="2400" b="1" dirty="0"/>
              <a:t> للكلمة.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C30D94-6D4F-35DB-EF70-5062B3428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992" y="3718561"/>
            <a:ext cx="5748351" cy="26780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6BA25F-D3D0-91EA-E7C2-BA45F2C6FF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159" y="1270294"/>
            <a:ext cx="2772162" cy="24482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CABE71-4A59-7182-806F-2A460203B9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2112" y="2011164"/>
            <a:ext cx="1724266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80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B632-D719-F1DF-0BD4-CEC4E06C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C6E21D2-E693-B531-A57D-5553B2F4BF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DB19790-9FB5-C143-FFA3-407D6C20B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DAA1F4A-9B26-6E1F-8546-ADEFA6B255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77464F5-01AA-C0BB-72F4-3699B0D78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7EFB174-F8F7-7639-4020-FBDBBFD958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9D51AE-E924-0054-2533-CDF40C0B26D9}"/>
              </a:ext>
            </a:extLst>
          </p:cNvPr>
          <p:cNvSpPr txBox="1"/>
          <p:nvPr/>
        </p:nvSpPr>
        <p:spPr>
          <a:xfrm>
            <a:off x="4846320" y="517238"/>
            <a:ext cx="6809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3600" b="1" dirty="0"/>
              <a:t>ماذا حتى الآن؟</a:t>
            </a:r>
            <a:endParaRPr lang="en-US" sz="36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6B394A8-F006-101A-C416-AC9CD0751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843" y="1435031"/>
            <a:ext cx="7254887" cy="2251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لكلمات ليست أرقامًا ذات معنى مباشر.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نحتاج تحويل الكلمات إلى متجهات كثيفة </a:t>
            </a:r>
            <a:r>
              <a:rPr lang="en-US" sz="2400" b="1" dirty="0"/>
              <a:t>Dense vectors</a:t>
            </a:r>
            <a:endParaRPr lang="ar-EG" sz="2400" b="1" dirty="0"/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الـ </a:t>
            </a:r>
            <a:r>
              <a:rPr lang="en-US" sz="2400" b="1" dirty="0"/>
              <a:t>Embeddings </a:t>
            </a:r>
            <a:r>
              <a:rPr lang="ar-EG" sz="2400" b="1" dirty="0"/>
              <a:t>تحفظ التشابه بين الكلمات.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2400" b="1" dirty="0"/>
              <a:t>الشبكات العصبية تتعلم هذه التمثيلات تلقائيًا.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0342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2816-69C5-1AA5-446A-A040624A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21ED71C-D8B3-9E20-D9D6-6BBC8F0BC6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CF5ABEC-6EE4-6D1D-85DE-723D9F1240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69E8927-CBB3-A5E9-E60B-060363B6B9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FFC92C-ABD1-48B1-FE25-6BC1BBA4D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0829B7C-AE0F-59BD-999E-32AD67443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22B2DD-ADD7-61CF-FB71-AA129DE95FB7}"/>
              </a:ext>
            </a:extLst>
          </p:cNvPr>
          <p:cNvSpPr txBox="1"/>
          <p:nvPr/>
        </p:nvSpPr>
        <p:spPr>
          <a:xfrm>
            <a:off x="4846320" y="517238"/>
            <a:ext cx="68097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2800" b="1" dirty="0"/>
              <a:t>لماذا تعمل </a:t>
            </a:r>
            <a:r>
              <a:rPr lang="en-US" sz="2800" b="1" dirty="0"/>
              <a:t>Bag of Words </a:t>
            </a:r>
            <a:r>
              <a:rPr lang="ar-EG" sz="2800" b="1" dirty="0"/>
              <a:t>أحيانًا؟</a:t>
            </a:r>
            <a:endParaRPr lang="en-US" sz="28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65F031D-88B9-3517-21E1-9F862B402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0750" y="1258222"/>
            <a:ext cx="40863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تمثل الجملة بدلًا من تمثيل كل كلمة منفردة.</a:t>
            </a: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الجمل المتشابهة تشترك في كلمات متقاربة.</a:t>
            </a: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لكنها ما زالت تعاني من:</a:t>
            </a: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ar-EG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Sparsity</a:t>
            </a: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فقدان ترتيب الكلمات</a:t>
            </a:r>
            <a:endParaRPr kumimoji="0" lang="ar-E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غياب السياق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375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AC02-F77A-2B68-26D3-A5B1BAC9D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2B963B-27C8-6073-9499-A174FEE968F5}"/>
              </a:ext>
            </a:extLst>
          </p:cNvPr>
          <p:cNvSpPr/>
          <p:nvPr/>
        </p:nvSpPr>
        <p:spPr>
          <a:xfrm>
            <a:off x="0" y="0"/>
            <a:ext cx="12456160" cy="71831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3987AE-1AF4-F3D3-BFF8-A503669975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974" y="169576"/>
            <a:ext cx="1038225" cy="695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9F26AA4-075D-DDD1-6038-33305BB72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975" y="169576"/>
            <a:ext cx="11277600" cy="76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8658770-48DA-82AF-05CB-763921DF60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2702881" y="3592600"/>
            <a:ext cx="5991226" cy="595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9BEC3F7-A74E-FFF6-5CAA-ECDB0FD858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014" y="6644957"/>
            <a:ext cx="12071985" cy="815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AB7E5AB-05BD-3154-4E9F-6AEC4A9A3D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734277" y="3436842"/>
            <a:ext cx="6507734" cy="6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3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621</Words>
  <Application>Microsoft Office PowerPoint</Application>
  <PresentationFormat>Widescreen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محب ميخائيل حشمت ميخائيل</dc:creator>
  <cp:lastModifiedBy>ايرينى حسنى ماهر رمزى</cp:lastModifiedBy>
  <cp:revision>7</cp:revision>
  <dcterms:created xsi:type="dcterms:W3CDTF">2026-05-14T14:49:52Z</dcterms:created>
  <dcterms:modified xsi:type="dcterms:W3CDTF">2026-05-14T23:22:48Z</dcterms:modified>
</cp:coreProperties>
</file>